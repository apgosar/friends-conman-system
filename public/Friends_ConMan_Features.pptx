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1" r:id="rId4"/>
    <p:sldId id="257" r:id="rId5"/>
    <p:sldId id="258" r:id="rId6"/>
    <p:sldId id="259" r:id="rId7"/>
    <p:sldId id="264" r:id="rId8"/>
    <p:sldId id="262" r:id="rId9"/>
    <p:sldId id="266" r:id="rId10"/>
    <p:sldId id="267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52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64675-5F61-3D89-9280-BEDCE17F0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E5A84-F7C4-94D7-449E-B707B93EA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F1F77-A8D5-8850-A38D-A7CC26D72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CA661-2F51-AAF8-8326-AB745EC3B2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39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AC43D-E7A1-46EB-7C64-277310F2F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6B51E-F0C9-3D4A-42EC-F4F07CE52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7BBE4-2728-7813-EE18-5F2937B49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DEE6E-EDB2-FECA-AABA-D2FF00C52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96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B2D6E-1B95-06E9-F02B-A32572346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6DDF1-5925-74F2-BD75-334A469D6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2FF15-5502-0A2C-01D4-859E0911F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95BBB-6F87-752E-788E-BB2A972CB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28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04CAE-F21D-5B8F-987A-0ADF2D01C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E3724-FB74-3048-3FEC-4B44EAE6A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17E38-C1F8-1E78-EFC5-D52BF2D1F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77F27-5520-4893-D41C-8313E6966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00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PARADIGM FRIENDS REALTORS LLP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31457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BuildSight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861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CA3AF"/>
                </a:solidFill>
              </a:rPr>
              <a:t>End-to-End Real Estate &amp; Construction Management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002991-FEC3-3C4A-4E3B-240EDD3BB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294225-58BC-E812-0431-D0B98DF2C8B7}"/>
              </a:ext>
            </a:extLst>
          </p:cNvPr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18CF8"/>
                </a:solidFill>
              </a:rPr>
              <a:t>Document Generation Engine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B32FD3-AC1B-EE39-8339-B399F6AFE959}"/>
              </a:ext>
            </a:extLst>
          </p:cNvPr>
          <p:cNvSpPr/>
          <p:nvPr/>
        </p:nvSpPr>
        <p:spPr>
          <a:xfrm>
            <a:off x="457200" y="1285875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Automated template based DOCX Agreement Generation for new Sale and Redevelopment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AI-powered KYC to eliminate manual errors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Customized demand letter generation as per milestone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Automated receipt generation on recording payment 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Dynamic Quote generation for any inquiry received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sz="2200" dirty="0">
              <a:solidFill>
                <a:srgbClr val="F8FAFC"/>
              </a:solidFill>
            </a:endParaRP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66663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18CF8"/>
                </a:solidFill>
              </a:rPr>
              <a:t>Communication &amp;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Automated Demand Letter communication on project milestone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Automated payment reminder after 7 days if payment not done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Demand with interest added sent on Admin approval after 14 days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Auto-generated Receipt sent once payment is recorded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Dual channel strategy for all communications. Multiple numbers per buyer supported.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Audit Trail: 100% visibility into when communications were sent and their delivery status.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18CF8"/>
                </a:solidFill>
              </a:rPr>
              <a:t>Project &amp; Inventory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4111955" cy="2589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+mj-lt"/>
              </a:rPr>
              <a:t>Interactive Building Viewer</a:t>
            </a:r>
            <a:endParaRPr lang="en-US" sz="2200" dirty="0">
              <a:latin typeface="+mj-lt"/>
            </a:endParaRP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+mj-lt"/>
              </a:rPr>
              <a:t>Color-coded Legend</a:t>
            </a:r>
            <a:endParaRPr lang="en-US" sz="2200" dirty="0">
              <a:latin typeface="+mj-lt"/>
            </a:endParaRP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+mj-lt"/>
              </a:rPr>
              <a:t>Single-Click Filtering</a:t>
            </a:r>
            <a:endParaRPr lang="en-US" sz="2200" dirty="0">
              <a:latin typeface="+mj-lt"/>
            </a:endParaRP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+mj-lt"/>
              </a:rPr>
              <a:t>Supports both Fresh Sales and Redevelopment</a:t>
            </a:r>
          </a:p>
        </p:txBody>
      </p:sp>
      <p:pic>
        <p:nvPicPr>
          <p:cNvPr id="5" name="Picture 4" descr="The image is a colorful, grid-like layout showing different types and statuses of units (e.g., A-101, A-202) in Wing A, categorized into available, booked, inquiry received, agreement done, and in progress.&#10;&#10;AI-generated content may be incorrect.">
            <a:extLst>
              <a:ext uri="{FF2B5EF4-FFF2-40B4-BE49-F238E27FC236}">
                <a16:creationId xmlns:a16="http://schemas.microsoft.com/office/drawing/2014/main" id="{EAD8CA65-052B-C956-13BB-D7EF94465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155" y="929851"/>
            <a:ext cx="4117645" cy="4050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18CF8"/>
                </a:solidFill>
              </a:rPr>
              <a:t>Sales &amp; CRM Onboarding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859" y="1146307"/>
            <a:ext cx="3489158" cy="3278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+mj-lt"/>
              </a:rPr>
              <a:t>Multi-Buyer Architecture</a:t>
            </a:r>
            <a:endParaRPr lang="en-US" sz="2000" dirty="0">
              <a:latin typeface="+mj-lt"/>
            </a:endParaRPr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+mj-lt"/>
              </a:rPr>
              <a:t>Tenant Linking: Seamlessly attach existing tenants</a:t>
            </a:r>
            <a:endParaRPr lang="en-US" sz="2000" dirty="0">
              <a:latin typeface="+mj-lt"/>
            </a:endParaRPr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+mj-lt"/>
              </a:rPr>
              <a:t>Simple, easy to use digital Sale Onboarding Wizard</a:t>
            </a:r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  <a:latin typeface="+mj-lt"/>
              </a:rPr>
              <a:t>Automated Smart Payment Plan in line with project milestones</a:t>
            </a:r>
            <a:endParaRPr lang="en-US" sz="2000" dirty="0">
              <a:latin typeface="+mj-lt"/>
            </a:endParaRPr>
          </a:p>
        </p:txBody>
      </p:sp>
      <p:pic>
        <p:nvPicPr>
          <p:cNvPr id="5" name="Picture 4" descr="The image is a user interface for a software application, showing various fields for entering information for a new or redevelopment sale, including buyer details, payment plans, and project specifics.&#10;&#10;AI-generated content may be incorrect.">
            <a:extLst>
              <a:ext uri="{FF2B5EF4-FFF2-40B4-BE49-F238E27FC236}">
                <a16:creationId xmlns:a16="http://schemas.microsoft.com/office/drawing/2014/main" id="{E8949186-970D-B45B-2939-904B8AF06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017" y="1146308"/>
            <a:ext cx="4694783" cy="3278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18CF8"/>
                </a:solidFill>
              </a:rPr>
              <a:t>Financial &amp; Payment Planning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Fully customizable milestone-based payment plans.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Automatically aggregates past-due milestones for mid-construction sales.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Spill-Over Credits: Intelligently cascade excess booking amounts into upcoming milestones.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GST &amp; Stamp Duty Integration: Exclude/Include statutory taxes effortlessly.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01149-D2B8-CA95-7BE8-EA575BE1D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F18A9A-6C79-FC1F-9C49-8F59C39C6135}"/>
              </a:ext>
            </a:extLst>
          </p:cNvPr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18CF8"/>
                </a:solidFill>
              </a:rPr>
              <a:t>Role Based Access Control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05BF06-27E5-1539-EF0F-9DA4396D58FC}"/>
              </a:ext>
            </a:extLst>
          </p:cNvPr>
          <p:cNvSpPr/>
          <p:nvPr/>
        </p:nvSpPr>
        <p:spPr>
          <a:xfrm>
            <a:off x="457200" y="1285875"/>
            <a:ext cx="8229600" cy="2294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Based on Least Privilege Access principle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Sales team gets only Status of units and Inquiry Access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Operations team gets access to create New Sale and Generate Agreements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Admin gets all the above access and overall Dashboard Analytics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85037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18CF8"/>
                </a:solidFill>
              </a:rPr>
              <a:t>Dashboard &amp; Analytics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Real-Time Aging Buckets: Instantly view Current Due, Overdue 7, Overdue 15, and Overdue 30+ days.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Collection Efficiency: Monitor cash flow health and milestone conversions.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Financial Summaries: Track Total Outstanding, Collected This Month, and TDS Pending.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Actionable Insights: Focus your sales team on the highest-priority outstanding accounts.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5910B-A0E3-9388-C725-7494C53C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74D64A-B1C6-EF1C-0E69-DE377318CFD5}"/>
              </a:ext>
            </a:extLst>
          </p:cNvPr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18CF8"/>
                </a:solidFill>
              </a:rPr>
              <a:t>Pricing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494C43-351B-E673-A0A4-BAD3F3FD064A}"/>
              </a:ext>
            </a:extLst>
          </p:cNvPr>
          <p:cNvSpPr/>
          <p:nvPr/>
        </p:nvSpPr>
        <p:spPr>
          <a:xfrm>
            <a:off x="457200" y="1285875"/>
            <a:ext cx="8229600" cy="1510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₹2999/- per unit with a minimum of 40 units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₹6000- per month infrastructure and maintenance charges </a:t>
            </a:r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</a:rPr>
              <a:t>Add ₹2000/- per month for additional project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11501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24582-ED15-A857-D64E-1564E393A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A427C7-0304-2232-E445-CEF163B0D9A8}"/>
              </a:ext>
            </a:extLst>
          </p:cNvPr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18CF8"/>
                </a:solidFill>
              </a:rPr>
              <a:t>Roles and Responsibilities</a:t>
            </a:r>
            <a:endParaRPr lang="en-US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F327C7-F7A3-BA98-D026-2A3BA1391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758995"/>
              </p:ext>
            </p:extLst>
          </p:nvPr>
        </p:nvGraphicFramePr>
        <p:xfrm>
          <a:off x="1524000" y="1212316"/>
          <a:ext cx="6096000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4698519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59446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BuidSight</a:t>
                      </a:r>
                      <a:r>
                        <a:rPr lang="en-US" dirty="0"/>
                        <a:t> Team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69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Maintain cloud infrastructure including Server, Database, e-KYC APIs, </a:t>
                      </a:r>
                      <a:r>
                        <a:rPr lang="en-US" dirty="0" err="1"/>
                        <a:t>Whatsapp</a:t>
                      </a:r>
                      <a:r>
                        <a:rPr lang="en-US" dirty="0"/>
                        <a:t> API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 Sale and PAAA agreement templates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25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Addition of new project including configuration, area and floorplan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 detailed floorplan drawings, area and configuration of each unit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92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Mapping of tenants for redevelopment project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New Sale, Update Construction Milestones and Record Payments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562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Provide overall support and training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044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976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366F1"/>
                </a:solidFill>
              </a:rPr>
              <a:t>Ready for Deployment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1F5F9"/>
                </a:solidFill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9E6CD2A-C82E-4503-A49E-8ED726C86701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425</Words>
  <Application>Microsoft Office PowerPoint</Application>
  <PresentationFormat>On-screen Show (16:9)</PresentationFormat>
  <Paragraphs>68</Paragraphs>
  <Slides>11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Ankur Gosar</cp:lastModifiedBy>
  <cp:revision>2</cp:revision>
  <dcterms:created xsi:type="dcterms:W3CDTF">2026-07-08T14:08:17Z</dcterms:created>
  <dcterms:modified xsi:type="dcterms:W3CDTF">2026-07-09T04:48:13Z</dcterms:modified>
</cp:coreProperties>
</file>